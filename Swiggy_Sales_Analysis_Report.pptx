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Epilogue" panose="020B0604020202020204" charset="0"/>
      <p:regular r:id="rId9"/>
    </p:embeddedFont>
    <p:embeddedFont>
      <p:font typeface="Epilogue Bold" panose="020B0604020202020204" charset="0"/>
      <p:regular r:id="rId10"/>
    </p:embeddedFont>
    <p:embeddedFont>
      <p:font typeface="Fraunces Medium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761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hyperlink" Target="https://github.com/hereissoumenbiswas/Swiggy-Sales-Analysis_202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hyperlink" Target="https://www.linkedin.com/in/hereissoumenbiswas/" TargetMode="External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8467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Swiggy Sales Analysis — Pan-India Business Performance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275262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January – August 2025 | Data Analysis &amp; Insights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24455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BECE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639741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Prepared by: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[Soumen Biswas]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94319" y="3639741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Date: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[12/09/2026]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239220"/>
            <a:ext cx="10868745" cy="1230213"/>
          </a:xfrm>
          <a:prstGeom prst="roundRect">
            <a:avLst>
              <a:gd name="adj" fmla="val 5647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825" y="4245570"/>
            <a:ext cx="3618616" cy="1217513"/>
          </a:xfrm>
          <a:custGeom>
            <a:avLst/>
            <a:gdLst/>
            <a:ahLst/>
            <a:cxnLst/>
            <a:rect l="l" t="t" r="r" b="b"/>
            <a:pathLst>
              <a:path w="3618616" h="1217513">
                <a:moveTo>
                  <a:pt x="57887" y="0"/>
                </a:moveTo>
                <a:lnTo>
                  <a:pt x="3618616" y="0"/>
                </a:lnTo>
                <a:lnTo>
                  <a:pt x="3618616" y="1217513"/>
                </a:lnTo>
                <a:lnTo>
                  <a:pt x="57887" y="1217513"/>
                </a:lnTo>
                <a:arcTo wR="57887" hR="57888" stAng="5400000" swAng="5400000"/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283157"/>
          </a:solidFill>
          <a:ln/>
        </p:spPr>
      </p:sp>
      <p:sp>
        <p:nvSpPr>
          <p:cNvPr id="9" name="Text 7"/>
          <p:cNvSpPr/>
          <p:nvPr/>
        </p:nvSpPr>
        <p:spPr>
          <a:xfrm>
            <a:off x="833119" y="4410869"/>
            <a:ext cx="32880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119" y="4768552"/>
            <a:ext cx="32880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993 Restaurants · 28 States · 8 Months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86440" y="4245570"/>
            <a:ext cx="3618715" cy="1217513"/>
          </a:xfrm>
          <a:prstGeom prst="rect">
            <a:avLst/>
          </a:prstGeom>
          <a:solidFill>
            <a:srgbClr val="283157"/>
          </a:solidFill>
          <a:ln/>
        </p:spPr>
      </p:sp>
      <p:sp>
        <p:nvSpPr>
          <p:cNvPr id="12" name="Shape 10"/>
          <p:cNvSpPr/>
          <p:nvPr/>
        </p:nvSpPr>
        <p:spPr>
          <a:xfrm>
            <a:off x="4286440" y="4245570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414A70"/>
          </a:solidFill>
          <a:ln/>
        </p:spPr>
      </p:sp>
      <p:sp>
        <p:nvSpPr>
          <p:cNvPr id="13" name="Text 11"/>
          <p:cNvSpPr/>
          <p:nvPr/>
        </p:nvSpPr>
        <p:spPr>
          <a:xfrm>
            <a:off x="4451735" y="4410869"/>
            <a:ext cx="32881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Period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51735" y="4768552"/>
            <a:ext cx="32881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January 2025 – August 2025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5155" y="4245570"/>
            <a:ext cx="3618715" cy="1217513"/>
          </a:xfrm>
          <a:custGeom>
            <a:avLst/>
            <a:gdLst/>
            <a:ahLst/>
            <a:cxnLst/>
            <a:rect l="l" t="t" r="r" b="b"/>
            <a:pathLst>
              <a:path w="3618715" h="1217513">
                <a:moveTo>
                  <a:pt x="0" y="0"/>
                </a:moveTo>
                <a:lnTo>
                  <a:pt x="3560828" y="0"/>
                </a:lnTo>
                <a:arcTo wR="57887" hR="57888" stAng="16200000" swAng="5400000"/>
                <a:lnTo>
                  <a:pt x="3618715" y="1159625"/>
                </a:lnTo>
                <a:arcTo wR="57887" hR="57888" stAng="0" swAng="5400000"/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283157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5155" y="4245570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414A70"/>
          </a:solidFill>
          <a:ln/>
        </p:spPr>
      </p:sp>
      <p:sp>
        <p:nvSpPr>
          <p:cNvPr id="17" name="Text 15"/>
          <p:cNvSpPr/>
          <p:nvPr/>
        </p:nvSpPr>
        <p:spPr>
          <a:xfrm>
            <a:off x="8070450" y="4410869"/>
            <a:ext cx="32881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Purpose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70450" y="4768552"/>
            <a:ext cx="328812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Staffing, Promotions &amp; Regional Strategy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1551"/>
            <a:ext cx="1310151" cy="222647"/>
          </a:xfrm>
          <a:prstGeom prst="roundRect">
            <a:avLst>
              <a:gd name="adj" fmla="val 22112"/>
            </a:avLst>
          </a:prstGeom>
          <a:solidFill>
            <a:srgbClr val="181E34"/>
          </a:solidFill>
          <a:ln/>
        </p:spPr>
      </p:sp>
      <p:sp>
        <p:nvSpPr>
          <p:cNvPr id="3" name="Text 1"/>
          <p:cNvSpPr/>
          <p:nvPr/>
        </p:nvSpPr>
        <p:spPr>
          <a:xfrm>
            <a:off x="749380" y="545505"/>
            <a:ext cx="1743924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76089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Executive KPI Summary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1428651"/>
            <a:ext cx="10868745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Nationwide Swiggy order data analyzed to assess platform health and uncover patterns for staffing, promotions, and regional strategy across 8 months of operations.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29160" y="2089944"/>
            <a:ext cx="4817843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₹5.30Cr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61475" y="2744093"/>
            <a:ext cx="535321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1475" y="3050877"/>
            <a:ext cx="535321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Gross revenue across all cities and categories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44593" y="2089944"/>
            <a:ext cx="4817942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1,97,430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176907" y="2744093"/>
            <a:ext cx="535331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6907" y="3050877"/>
            <a:ext cx="53533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Platform-wide orders fulfilled Jan–Aug 2025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29160" y="3604716"/>
            <a:ext cx="4817843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₹268.51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61475" y="4258866"/>
            <a:ext cx="535321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Avg. Order Value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1475" y="4565650"/>
            <a:ext cx="5353214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AOV across Veg and Non-Veg segments combined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4593" y="3604716"/>
            <a:ext cx="4817942" cy="483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4.34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76907" y="4258866"/>
            <a:ext cx="535331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Avg. Rating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6907" y="4565650"/>
            <a:ext cx="5353313" cy="221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Out of 5.0 — consistent across all quarters</a:t>
            </a:r>
            <a:endParaRPr lang="en-US" sz="11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78611"/>
            <a:ext cx="5255684" cy="11317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03166" y="5244108"/>
            <a:ext cx="484850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Rating Count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03166" y="5602784"/>
            <a:ext cx="4848501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2150FE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5,591,574</a:t>
            </a: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total ratings received — a strong engagement signal across the platform</a:t>
            </a:r>
            <a:endParaRPr lang="en-US" sz="11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886" y="5078611"/>
            <a:ext cx="5255684" cy="11317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22577" y="5244108"/>
            <a:ext cx="484850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Platform Footprint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22577" y="5602784"/>
            <a:ext cx="4848501" cy="44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2150FE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993 restaurants</a:t>
            </a: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across </a:t>
            </a:r>
            <a:r>
              <a:rPr lang="en-US" sz="1150" b="1" dirty="0">
                <a:solidFill>
                  <a:srgbClr val="2150FE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28 states</a:t>
            </a: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true pan-India coverage over the full 8-month window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0679"/>
            <a:ext cx="1006648" cy="201116"/>
          </a:xfrm>
          <a:prstGeom prst="roundRect">
            <a:avLst>
              <a:gd name="adj" fmla="val 22105"/>
            </a:avLst>
          </a:prstGeom>
          <a:solidFill>
            <a:srgbClr val="181E34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550366"/>
            <a:ext cx="1457487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TRENDS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5406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Sales Trends: Monthly, Daily &amp; Weekly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43202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Monthly Sales Trend (Jan–Aug 2025)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57759"/>
            <a:ext cx="4218378" cy="30364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913313"/>
            <a:ext cx="52730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Monthly band stays tight between </a:t>
            </a:r>
            <a:r>
              <a:rPr lang="en-US" sz="10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₹62.7L – ₹68.3L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Jan &amp; Aug are strongest; Feb is the lone dip. Demand is structurally stable with no major seasonal collapse.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63523" y="143202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Daily Average Sales by Day of Week (₹ Lakhs)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523" y="1757759"/>
            <a:ext cx="4218378" cy="30364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523" y="4913313"/>
            <a:ext cx="5273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Saturday peaks at ₹77.8L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; Tuesday is the weakest at </a:t>
            </a:r>
            <a:r>
              <a:rPr lang="en-US" sz="10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₹73.6L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Thu–Sat consistently outperform early-week days — a clear staffing and promotional signal.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61475" y="5699125"/>
            <a:ext cx="10868745" cy="648097"/>
          </a:xfrm>
          <a:prstGeom prst="roundRect">
            <a:avLst>
              <a:gd name="adj" fmla="val 8575"/>
            </a:avLst>
          </a:prstGeom>
          <a:solidFill>
            <a:srgbClr val="28315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30" y="5855494"/>
            <a:ext cx="165294" cy="1322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1280" y="5837932"/>
            <a:ext cx="10306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Key Takeaway:</a:t>
            </a:r>
            <a:r>
              <a:rPr lang="en-US" sz="10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Stable demand overall — weekends + Thursday outperform early week. Target Tuesday promotions and optimize courier staffing for Sat/Thu/Fri peaks.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0736"/>
            <a:ext cx="1604724" cy="201116"/>
          </a:xfrm>
          <a:prstGeom prst="roundRect">
            <a:avLst>
              <a:gd name="adj" fmla="val 22105"/>
            </a:avLst>
          </a:prstGeom>
          <a:solidFill>
            <a:srgbClr val="181E34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530423"/>
            <a:ext cx="2055563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SEGMENTATION &amp; GEOGRAPHY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3412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Food Type &amp; Geographic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412081"/>
            <a:ext cx="415388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Order Split: Veg vs. Non-Veg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7816"/>
            <a:ext cx="3323050" cy="26743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4531221"/>
            <a:ext cx="4153887" cy="805557"/>
          </a:xfrm>
          <a:prstGeom prst="roundRect">
            <a:avLst>
              <a:gd name="adj" fmla="val 6899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780" y="4682530"/>
            <a:ext cx="385127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Veg Segment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2780" y="4994970"/>
            <a:ext cx="3851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69.4% orders · 63% revenue · AOV </a:t>
            </a:r>
            <a:r>
              <a:rPr lang="en-US" sz="1000" b="1" dirty="0">
                <a:solidFill>
                  <a:srgbClr val="2150FE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₹243.49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1475" y="5442545"/>
            <a:ext cx="4153887" cy="805557"/>
          </a:xfrm>
          <a:prstGeom prst="roundRect">
            <a:avLst>
              <a:gd name="adj" fmla="val 6899"/>
            </a:avLst>
          </a:prstGeom>
          <a:solidFill>
            <a:srgbClr val="080E26"/>
          </a:solidFill>
          <a:ln w="1905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2780" y="5593854"/>
            <a:ext cx="385127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Non-Veg Segment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780" y="5906294"/>
            <a:ext cx="385127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30.6% orders · 37% revenue · AOV </a:t>
            </a:r>
            <a:r>
              <a:rPr lang="en-US" sz="1000" b="1" dirty="0">
                <a:solidFill>
                  <a:srgbClr val="2150FE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₹325.36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0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(+34% vs. Veg)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44363" y="1412081"/>
            <a:ext cx="63921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Top 5 Cities by Sales Contribution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363" y="1737816"/>
            <a:ext cx="5113606" cy="33601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44363" y="5217021"/>
            <a:ext cx="6392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</a:t>
            </a:r>
            <a:r>
              <a:rPr lang="en-US" sz="10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Top 5 metros collectively account for ~33% of total national sales</a:t>
            </a: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confirming heavy revenue concentration in urban centres. The remaining 67% is spread across 23+ additional states — significant headroom for regional growth campaigns.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7895"/>
            <a:ext cx="1024110" cy="142776"/>
          </a:xfrm>
          <a:prstGeom prst="roundRect">
            <a:avLst>
              <a:gd name="adj" fmla="val 22137"/>
            </a:avLst>
          </a:prstGeom>
          <a:solidFill>
            <a:srgbClr val="181E34"/>
          </a:solidFill>
          <a:ln/>
        </p:spPr>
      </p:sp>
      <p:sp>
        <p:nvSpPr>
          <p:cNvPr id="3" name="Text 1"/>
          <p:cNvSpPr/>
          <p:nvPr/>
        </p:nvSpPr>
        <p:spPr>
          <a:xfrm>
            <a:off x="717830" y="486073"/>
            <a:ext cx="1520985" cy="8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QUARTERLY PERFORMANCE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22002"/>
            <a:ext cx="10868745" cy="29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Quarterly Performance &amp; Data Caveat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96057"/>
            <a:ext cx="7064595" cy="39577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5074047"/>
            <a:ext cx="211628" cy="211634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6697" y="5091658"/>
            <a:ext cx="141086" cy="176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26581" y="5106293"/>
            <a:ext cx="5054573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Q1: ₹1.97 Cr | 73,096 orders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26581" y="5306715"/>
            <a:ext cx="5054573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3-month full quarter. Monthly average: </a:t>
            </a: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₹65.7L/month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61475" y="5531644"/>
            <a:ext cx="211628" cy="211634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6697" y="5549255"/>
            <a:ext cx="141086" cy="176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26581" y="5563890"/>
            <a:ext cx="5054573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Q2: ₹1.99 Cr | 74,163 orders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26581" y="5764312"/>
            <a:ext cx="5054573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3-month full quarter. Monthly average: </a:t>
            </a: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₹66.3L/month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61475" y="5989241"/>
            <a:ext cx="211628" cy="211634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6697" y="6006852"/>
            <a:ext cx="141086" cy="176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26581" y="6021487"/>
            <a:ext cx="5054573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Q3: ₹1.34 Cr | 50,171 orders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26581" y="6221909"/>
            <a:ext cx="5054573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2-month partial period. Monthly average: </a:t>
            </a:r>
            <a:r>
              <a:rPr lang="en-US" sz="7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₹67.2L/month</a:t>
            </a: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fully in line with Q1 and Q2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149226" y="5013920"/>
            <a:ext cx="5455010" cy="1386086"/>
          </a:xfrm>
          <a:prstGeom prst="roundRect">
            <a:avLst>
              <a:gd name="adj" fmla="val 4886"/>
            </a:avLst>
          </a:prstGeom>
          <a:solidFill>
            <a:srgbClr val="2150FE"/>
          </a:solidFill>
          <a:ln/>
        </p:spPr>
      </p:sp>
      <p:sp>
        <p:nvSpPr>
          <p:cNvPr id="19" name="Text 16"/>
          <p:cNvSpPr/>
          <p:nvPr/>
        </p:nvSpPr>
        <p:spPr>
          <a:xfrm>
            <a:off x="6243283" y="5067399"/>
            <a:ext cx="526689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r>
              <a:rPr lang="en-US" sz="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Important Data Caveat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43283" y="5274171"/>
            <a:ext cx="5266896" cy="804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Q3 covers </a:t>
            </a:r>
            <a:r>
              <a:rPr lang="en-US" sz="7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only 2 months</a:t>
            </a:r>
            <a:r>
              <a:rPr lang="en-US" sz="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(July–August 2025), not a full quarter. The raw ₹1.34 Cr figure is </a:t>
            </a:r>
            <a:r>
              <a:rPr lang="en-US" sz="7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NOT a decline</a:t>
            </a:r>
            <a:r>
              <a:rPr lang="en-US" sz="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 performance.</a:t>
            </a:r>
            <a:endParaRPr lang="en-US" sz="700" dirty="0"/>
          </a:p>
          <a:p>
            <a:pPr marL="0" indent="0" algn="l">
              <a:lnSpc>
                <a:spcPct val="105000"/>
              </a:lnSpc>
              <a:spcAft>
                <a:spcPts val="35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When normalized to a monthly average of </a:t>
            </a:r>
            <a:r>
              <a:rPr lang="en-US" sz="7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₹67.2L/month</a:t>
            </a:r>
            <a:r>
              <a:rPr lang="en-US" sz="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Q3 is actually the </a:t>
            </a:r>
            <a:r>
              <a:rPr lang="en-US" sz="700" i="1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strongest</a:t>
            </a:r>
            <a:r>
              <a:rPr lang="en-US" sz="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monthly run rate across all three periods — reflecting continued platform momentum.</a:t>
            </a:r>
            <a:endParaRPr lang="en-US" sz="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Rating consistency:</a:t>
            </a:r>
            <a:r>
              <a:rPr lang="en-US" sz="7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~4.34 / 5 held steady across all quarters regardless of order volume — a signal of robust and reliable service quality.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3776"/>
            <a:ext cx="1444589" cy="251420"/>
          </a:xfrm>
          <a:prstGeom prst="roundRect">
            <a:avLst>
              <a:gd name="adj" fmla="val 22103"/>
            </a:avLst>
          </a:prstGeom>
          <a:solidFill>
            <a:srgbClr val="181E34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73385"/>
            <a:ext cx="185574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STRATEGIC OUTLOOK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4127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Recommendations &amp; Next Steps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06054"/>
            <a:ext cx="413434" cy="413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1577" y="1606054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Optimize Courier Staffing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1577" y="1963738"/>
            <a:ext cx="471088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Deploy heavier courier coverage on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Saturday, Thursday, and Friday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when demand peaks at ₹77.8L/day. Run leaner on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Tuesday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(₹73.6L) to reduce idle cost without impacting SLA.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1606054"/>
            <a:ext cx="413434" cy="4134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9233" y="1606054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Targeted Promotions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819233" y="1963738"/>
            <a:ext cx="471098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Launch midweek offers specifically on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Tuesdays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to lift the week's lowest-performing day. Intensify promotional spend during the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February–June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window to counteract the seasonal dip observed in Feb (₹62.7L).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352899"/>
            <a:ext cx="413434" cy="4134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1577" y="3352899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Non-Veg AOV Uplift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281577" y="3710583"/>
            <a:ext cx="471088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Non-Veg carries a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34% AOV premium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(₹325.36 vs. ₹243.49). Cross-sell and bundle Non-Veg items to Veg-dominant customers to lift blended AOV across the platform's majority segment.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9132" y="3352899"/>
            <a:ext cx="413434" cy="4134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19233" y="3352899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Metro Protection &amp; Regional Expansion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819233" y="3710583"/>
            <a:ext cx="4710987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Protect revenue from the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Top 5 metros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(Bengaluru, Lucknow, Hyderabad, Mumbai, Delhi) which drive ~33% of national sales. Run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targeted acquisition campaigns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 underperforming states to diversify revenue concentration across 28 markets.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61475" y="526097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BECEF">
              <a:alpha val="5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661475" y="5656163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Contact: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[hereissoumenbiswas@gmail.com] | </a:t>
            </a:r>
            <a:r>
              <a:rPr lang="en-US" sz="130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| </a:t>
            </a:r>
            <a:r>
              <a:rPr lang="en-US" sz="1300" b="1" u="sng" dirty="0">
                <a:solidFill>
                  <a:srgbClr val="8C98CA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694319" y="5656163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Swiggy Sales Analysis — Pan-India | Jan–Aug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C98C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734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Epilogue</vt:lpstr>
      <vt:lpstr>Arial</vt:lpstr>
      <vt:lpstr>Fraunces Medium</vt:lpstr>
      <vt:lpstr>Twemoji Mozilla</vt:lpstr>
      <vt:lpstr>Epilogue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SOUMEN BISWAS</dc:creator>
  <cp:lastModifiedBy>SOUMEN BISWAS</cp:lastModifiedBy>
  <cp:revision>2</cp:revision>
  <dcterms:created xsi:type="dcterms:W3CDTF">2026-09-12T08:58:46Z</dcterms:created>
  <dcterms:modified xsi:type="dcterms:W3CDTF">2026-09-12T09:10:38Z</dcterms:modified>
</cp:coreProperties>
</file>